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B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828800"/>
            <a:ext cx="1005840" cy="100584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4000">
                <a:solidFill>
                  <a:srgbClr val="FFFFFF"/>
                </a:solidFill>
              </a:rPr>
              <a:t>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03120" y="17373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ClinicDesk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2651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FE7E4"/>
                </a:solidFill>
                <a:latin typeface="Calibri"/>
              </a:rPr>
              <a:t>Appointment desk for a small clinic, from laptop to a monitored EKS cluster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402336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FE7E4"/>
                </a:solidFill>
                <a:latin typeface="Calibri"/>
              </a:rPr>
              <a:t>DevOps Final Capstone</a:t>
            </a:r>
          </a:p>
          <a:p>
            <a:pPr algn="l"/>
            <a:r>
              <a:rPr sz="1600" b="0">
                <a:solidFill>
                  <a:srgbClr val="CFE7E4"/>
                </a:solidFill>
                <a:latin typeface="Calibri"/>
              </a:rPr>
              <a:t>Presented by: TODO your name</a:t>
            </a:r>
          </a:p>
          <a:p>
            <a:pPr algn="l"/>
            <a:r>
              <a:rPr sz="1600" b="0">
                <a:solidFill>
                  <a:srgbClr val="CFE7E4"/>
                </a:solidFill>
                <a:latin typeface="Calibri"/>
              </a:rPr>
              <a:t>github.com/RJSIN147/DevopsCapstoneProject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3B3C"/>
                </a:solidFill>
                <a:latin typeface="Calibri"/>
              </a:rPr>
              <a:t>Project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Calibri"/>
              </a:rPr>
              <a:t>What the app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ClinicDesk · DevOps Capstone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>
                <a:solidFill>
                  <a:srgbClr val="1D2733"/>
                </a:solidFill>
                <a:latin typeface="Calibri"/>
              </a:rPr>
              <a:t>•  Front desk tool for a clinic with a few doctors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1D2733"/>
                </a:solidFill>
                <a:latin typeface="Calibri"/>
              </a:rPr>
              <a:t>•  Book a patient into a doctor's slot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1D2733"/>
                </a:solidFill>
                <a:latin typeface="Calibri"/>
              </a:rPr>
              <a:t>•  Check in on arrival, complete when they leave, or cancel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1D2733"/>
                </a:solidFill>
                <a:latin typeface="Calibri"/>
              </a:rPr>
              <a:t>•  Refuses to double-book a doctor (409 Conflict)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1D2733"/>
                </a:solidFill>
                <a:latin typeface="Calibri"/>
              </a:rPr>
              <a:t>•  Pause a doctor so nobody can book them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1D2733"/>
                </a:solidFill>
                <a:latin typeface="Calibri"/>
              </a:rPr>
              <a:t>•  Live counts: today, waiting room, completed, cancelled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1D2733"/>
                </a:solidFill>
                <a:latin typeface="Calibri"/>
              </a:rPr>
              <a:t>•  Small app on purpose, the project is the delivery pipeline around 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1737360"/>
            <a:ext cx="2286000" cy="128016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3200">
                <a:solidFill>
                  <a:srgbClr val="0B3B3C"/>
                </a:solidFill>
                <a:latin typeface="Calibri"/>
              </a:rPr>
              <a:t>15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REST endpoints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1737360"/>
            <a:ext cx="2286000" cy="128016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3200">
                <a:solidFill>
                  <a:srgbClr val="0B3B3C"/>
                </a:solidFill>
                <a:latin typeface="Calibri"/>
              </a:rPr>
              <a:t>25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pytest 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3200400"/>
            <a:ext cx="2286000" cy="128016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3200">
                <a:solidFill>
                  <a:srgbClr val="0B3B3C"/>
                </a:solidFill>
                <a:latin typeface="Calibri"/>
              </a:rPr>
              <a:t>2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tables, Alembic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26880" y="3200400"/>
            <a:ext cx="2286000" cy="128016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3200">
                <a:solidFill>
                  <a:srgbClr val="0B3B3C"/>
                </a:solidFill>
                <a:latin typeface="Calibri"/>
              </a:rPr>
              <a:t>7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CI/CD jobs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0" y="4663440"/>
            <a:ext cx="4754880" cy="109728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400">
                <a:solidFill>
                  <a:srgbClr val="0B3B3C"/>
                </a:solidFill>
                <a:latin typeface="Calibri"/>
              </a:rPr>
              <a:t>React  ·  FastAPI  ·  PostgreSQL</a:t>
            </a:r>
          </a:p>
          <a:p>
            <a:pPr algn="ctr"/>
            <a:r>
              <a:rPr sz="1100">
                <a:solidFill>
                  <a:srgbClr val="64748B"/>
                </a:solidFill>
                <a:latin typeface="Calibri"/>
              </a:rPr>
              <a:t>Docker · GitHub Actions · Trivy · GHCR · Terraform · EKS · Helm · ArgoCD · Prometheus · Grafana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3B3C"/>
                </a:solidFill>
                <a:latin typeface="Calibri"/>
              </a:rP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ClinicDesk · DevOps Capstone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solidFill>
            <a:srgbClr val="E0F2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558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3B3C"/>
                </a:solidFill>
                <a:latin typeface="Calibri"/>
              </a:rPr>
              <a:t>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1355880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D2733"/>
                </a:solidFill>
                <a:latin typeface="Calibri"/>
              </a:rPr>
              <a:t>React 19, Vite 8, plain responsive CSS, nginx-unprivileged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801368"/>
            <a:ext cx="110642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31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3B3C"/>
                </a:solidFill>
                <a:latin typeface="Calibri"/>
              </a:rPr>
              <a:t>Backend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831368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D2733"/>
                </a:solidFill>
                <a:latin typeface="Calibri"/>
              </a:rPr>
              <a:t>Python 3.12, FastAPI, SQLAlchemy 2, Pydantic 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276856"/>
            <a:ext cx="11064240" cy="457200"/>
          </a:xfrm>
          <a:prstGeom prst="rect">
            <a:avLst/>
          </a:prstGeom>
          <a:solidFill>
            <a:srgbClr val="E0F2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306856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3B3C"/>
                </a:solidFill>
                <a:latin typeface="Calibri"/>
              </a:rPr>
              <a:t>Database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306856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D2733"/>
                </a:solidFill>
                <a:latin typeface="Calibri"/>
              </a:rPr>
              <a:t>PostgreSQL 17, Alembic migrations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752344"/>
            <a:ext cx="110642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782344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3B3C"/>
                </a:solidFill>
                <a:latin typeface="Calibri"/>
              </a:rPr>
              <a:t>Testing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2782344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D2733"/>
                </a:solidFill>
                <a:latin typeface="Calibri"/>
              </a:rPr>
              <a:t>pytest + TestClient on in-memory SQLite, node:test, ruff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227832"/>
            <a:ext cx="11064240" cy="457200"/>
          </a:xfrm>
          <a:prstGeom prst="rect">
            <a:avLst/>
          </a:prstGeom>
          <a:solidFill>
            <a:srgbClr val="E0F2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5783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3B3C"/>
                </a:solidFill>
                <a:latin typeface="Calibri"/>
              </a:rPr>
              <a:t>Containers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325783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D2733"/>
                </a:solidFill>
                <a:latin typeface="Calibri"/>
              </a:rPr>
              <a:t>Docker multi-stage builds, non-root users, Docker Compose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703320"/>
            <a:ext cx="110642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73332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3B3C"/>
                </a:solidFill>
                <a:latin typeface="Calibri"/>
              </a:rPr>
              <a:t>CI/CD + registry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3733320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D2733"/>
                </a:solidFill>
                <a:latin typeface="Calibri"/>
              </a:rPr>
              <a:t>GitHub Actions, GitHub Container Registry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178808"/>
            <a:ext cx="11064240" cy="457200"/>
          </a:xfrm>
          <a:prstGeom prst="rect">
            <a:avLst/>
          </a:prstGeom>
          <a:solidFill>
            <a:srgbClr val="E0F2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20880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3B3C"/>
                </a:solidFill>
                <a:latin typeface="Calibri"/>
              </a:rPr>
              <a:t>Security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0" y="4208808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D2733"/>
                </a:solidFill>
                <a:latin typeface="Calibri"/>
              </a:rPr>
              <a:t>Trivy image scan gate, Trivy secret scan, SARIF to GitHub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654296"/>
            <a:ext cx="110642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684296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3B3C"/>
                </a:solidFill>
                <a:latin typeface="Calibri"/>
              </a:rPr>
              <a:t>Infrastructure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4684296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D2733"/>
                </a:solidFill>
                <a:latin typeface="Calibri"/>
              </a:rPr>
              <a:t>Terraform, AWS VPC, EKS 1.34, EBS CSI driver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129784"/>
            <a:ext cx="11064240" cy="457200"/>
          </a:xfrm>
          <a:prstGeom prst="rect">
            <a:avLst/>
          </a:prstGeom>
          <a:solidFill>
            <a:srgbClr val="E0F2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159784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3B3C"/>
                </a:solidFill>
                <a:latin typeface="Calibri"/>
              </a:rPr>
              <a:t>Kubernetes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74720" y="5159784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D2733"/>
                </a:solidFill>
                <a:latin typeface="Calibri"/>
              </a:rPr>
              <a:t>Helm chart, ingress-nginx, HPA, PDB, ArgoCD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605272"/>
            <a:ext cx="110642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63527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3B3C"/>
                </a:solidFill>
                <a:latin typeface="Calibri"/>
              </a:rPr>
              <a:t>Observability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74720" y="5635272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D2733"/>
                </a:solidFill>
                <a:latin typeface="Calibri"/>
              </a:rPr>
              <a:t>kube-prometheus-stack: Prometheus, Grafana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3B3C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ClinicDesk · DevOps Capstone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737360"/>
            <a:ext cx="1737360" cy="82296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Browser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receptionist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173736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Ingress (nginx)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clinicdesk host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188720"/>
            <a:ext cx="2194560" cy="82296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frontend Service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nginx + React build x2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0" y="2377440"/>
            <a:ext cx="2194560" cy="82296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backend Service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FastAPI x2..8 (HPA)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2377440"/>
            <a:ext cx="2194560" cy="82296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PostgreSQL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StatefulSet + EBS gp3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194560" y="2148840"/>
            <a:ext cx="548640" cy="0"/>
          </a:xfrm>
          <a:prstGeom prst="line">
            <a:avLst/>
          </a:prstGeom>
          <a:ln w="25400">
            <a:solidFill>
              <a:srgbClr val="0F76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4754880" y="1600200"/>
            <a:ext cx="731520" cy="411480"/>
          </a:xfrm>
          <a:prstGeom prst="line">
            <a:avLst/>
          </a:prstGeom>
          <a:ln w="25400">
            <a:solidFill>
              <a:srgbClr val="0F76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754880" y="2286000"/>
            <a:ext cx="731520" cy="502920"/>
          </a:xfrm>
          <a:prstGeom prst="line">
            <a:avLst/>
          </a:prstGeom>
          <a:ln w="25400">
            <a:solidFill>
              <a:srgbClr val="0F76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680960" y="2788920"/>
            <a:ext cx="731520" cy="0"/>
          </a:xfrm>
          <a:prstGeom prst="line">
            <a:avLst/>
          </a:prstGeom>
          <a:ln w="25400">
            <a:solidFill>
              <a:srgbClr val="0F76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663440" y="13258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766E"/>
                </a:solidFill>
                <a:latin typeface="Calibri"/>
              </a:rPr>
              <a:t>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6974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766E"/>
                </a:solidFill>
                <a:latin typeface="Calibri"/>
              </a:rPr>
              <a:t>/api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0" y="1188720"/>
            <a:ext cx="2194560" cy="82296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Prometheus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ServiceMonitor scrape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89920" y="1188720"/>
            <a:ext cx="1097280" cy="82296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Grafana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7680960" y="1600200"/>
            <a:ext cx="731520" cy="1005840"/>
          </a:xfrm>
          <a:prstGeom prst="line">
            <a:avLst/>
          </a:prstGeom>
          <a:ln w="25400">
            <a:solidFill>
              <a:srgbClr val="0F76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607040" y="1600200"/>
            <a:ext cx="182880" cy="0"/>
          </a:xfrm>
          <a:prstGeom prst="line">
            <a:avLst/>
          </a:prstGeom>
          <a:ln w="25400">
            <a:solidFill>
              <a:srgbClr val="0F76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57200" y="4206240"/>
            <a:ext cx="1691640" cy="86868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git push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GitHub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48840" y="4636008"/>
            <a:ext cx="274320" cy="0"/>
          </a:xfrm>
          <a:prstGeom prst="line">
            <a:avLst/>
          </a:prstGeom>
          <a:ln w="25400">
            <a:solidFill>
              <a:srgbClr val="0F76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2423160" y="4206240"/>
            <a:ext cx="1691640" cy="86868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Actions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test, build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114800" y="4636008"/>
            <a:ext cx="274320" cy="0"/>
          </a:xfrm>
          <a:prstGeom prst="line">
            <a:avLst/>
          </a:prstGeom>
          <a:ln w="25400">
            <a:solidFill>
              <a:srgbClr val="0F76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389120" y="4206240"/>
            <a:ext cx="1691640" cy="868680"/>
          </a:xfrm>
          <a:prstGeom prst="roundRect">
            <a:avLst>
              <a:gd name="adj" fmla="val 12000"/>
            </a:avLst>
          </a:prstGeom>
          <a:solidFill>
            <a:srgbClr val="FF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Trivy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HIGH/CRIT gate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80760" y="4636008"/>
            <a:ext cx="274320" cy="0"/>
          </a:xfrm>
          <a:prstGeom prst="line">
            <a:avLst/>
          </a:prstGeom>
          <a:ln w="25400">
            <a:solidFill>
              <a:srgbClr val="0F76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355080" y="4206240"/>
            <a:ext cx="1691640" cy="86868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GHCR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tag = SHA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046720" y="4636008"/>
            <a:ext cx="274320" cy="0"/>
          </a:xfrm>
          <a:prstGeom prst="line">
            <a:avLst/>
          </a:prstGeom>
          <a:ln w="25400">
            <a:solidFill>
              <a:srgbClr val="0F76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321040" y="4206240"/>
            <a:ext cx="1691640" cy="86868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ArgoCD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syncs chart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012680" y="4636008"/>
            <a:ext cx="274320" cy="0"/>
          </a:xfrm>
          <a:prstGeom prst="line">
            <a:avLst/>
          </a:prstGeom>
          <a:ln w="25400">
            <a:solidFill>
              <a:srgbClr val="0F76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10287000" y="4206240"/>
            <a:ext cx="1691640" cy="86868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EKS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Terraform VPC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3035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The browser only calls /api on its own origin. nginx (compose) or the Ingress (Kubernetes) routes it to FastAPI, so no internal hostnames leak into the frontend build.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3B3C"/>
                </a:solidFill>
                <a:latin typeface="Calibri"/>
              </a:rPr>
              <a:t>The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Calibri"/>
              </a:rPr>
              <a:t>FastAPI + SQLAlchemy + Alembic, React on the front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ClinicDesk · DevOps Capstone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1D2733"/>
                </a:solidFill>
                <a:latin typeface="Calibri"/>
              </a:rPr>
              <a:t>•  Doctors: list, get, add, update/pause, delete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D2733"/>
                </a:solidFill>
                <a:latin typeface="Calibri"/>
              </a:rPr>
              <a:t>•  Appointments: list with filters, get, book, update, delete, stats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D2733"/>
                </a:solidFill>
                <a:latin typeface="Calibri"/>
              </a:rPr>
              <a:t>•  /health for liveness, /ready checks the DB (503 if down)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D2733"/>
                </a:solidFill>
                <a:latin typeface="Calibri"/>
              </a:rPr>
              <a:t>•  /metrics for Prometheus, plus my own counters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D2733"/>
                </a:solidFill>
                <a:latin typeface="Calibri"/>
              </a:rPr>
              <a:t>•  Business rules in the API, not only the UI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64748B"/>
                </a:solidFill>
                <a:latin typeface="Calibri"/>
              </a:rPr>
              <a:t>–  overlapping bookings for a doctor -&gt; 409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64748B"/>
                </a:solidFill>
                <a:latin typeface="Calibri"/>
              </a:rPr>
              <a:t>–  paused doctor -&gt; 422, doctor with history can't be deleted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64748B"/>
                </a:solidFill>
                <a:latin typeface="Calibri"/>
              </a:rPr>
              <a:t>–  all times stored in UTC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737360"/>
            <a:ext cx="4937760" cy="137160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doctors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id · full_name · specialty · room · active · created_at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3383280"/>
            <a:ext cx="4937760" cy="155448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appointments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id · patient_name · patient_phone · doctor_id (FK) · scheduled_at · duration_minutes · reason · status · created_at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144000" y="3108960"/>
            <a:ext cx="0" cy="274320"/>
          </a:xfrm>
          <a:prstGeom prst="line">
            <a:avLst/>
          </a:prstGeom>
          <a:ln w="25400">
            <a:solidFill>
              <a:srgbClr val="0F76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675120" y="5120640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Migrations: 0001 creates both tables, 0002 seeds four doctors. Pods take a Postgres advisory lock before migrating.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3B3C"/>
                </a:solidFill>
                <a:latin typeface="Calibri"/>
              </a:rPr>
              <a:t>CI/CD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Calibri"/>
              </a:rPr>
              <a:t>GitHub Actions, runs on every push and PR to main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ClinicDesk · DevOps Capstone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737360"/>
            <a:ext cx="2651760" cy="64008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b="1" sz="1800">
                <a:solidFill>
                  <a:srgbClr val="FFFFFF"/>
                </a:solidFill>
              </a:rPr>
              <a:t>1 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14600"/>
            <a:ext cx="2651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D2733"/>
                </a:solidFill>
                <a:latin typeface="Calibri"/>
              </a:rPr>
              <a:t>•  backend: ruff + pytest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D2733"/>
                </a:solidFill>
                <a:latin typeface="Calibri"/>
              </a:rPr>
              <a:t>•  frontend: npm test + build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D2733"/>
                </a:solidFill>
                <a:latin typeface="Calibri"/>
              </a:rPr>
              <a:t>•  helm lint, terraform validate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D2733"/>
                </a:solidFill>
                <a:latin typeface="Calibri"/>
              </a:rPr>
              <a:t>•  Trivy secret scan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08960" y="2057400"/>
            <a:ext cx="228600" cy="0"/>
          </a:xfrm>
          <a:prstGeom prst="line">
            <a:avLst/>
          </a:prstGeom>
          <a:ln w="25400">
            <a:solidFill>
              <a:srgbClr val="0F76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337560" y="1737360"/>
            <a:ext cx="2651760" cy="64008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b="1" sz="1800">
                <a:solidFill>
                  <a:srgbClr val="FFFFFF"/>
                </a:solidFill>
              </a:rPr>
              <a:t>2  Build + scan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2514600"/>
            <a:ext cx="2651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D2733"/>
                </a:solidFill>
                <a:latin typeface="Calibri"/>
              </a:rPr>
              <a:t>•  docker build backend/frontend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D2733"/>
                </a:solidFill>
                <a:latin typeface="Calibri"/>
              </a:rPr>
              <a:t>•  Trivy full report + SARIF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D2733"/>
                </a:solidFill>
                <a:latin typeface="Calibri"/>
              </a:rPr>
              <a:t>•  gate: fixable HIGH/CRITICAL fails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D2733"/>
                </a:solidFill>
                <a:latin typeface="Calibri"/>
              </a:rPr>
              <a:t>•  push to GHCR as :&lt;sha&gt;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89320" y="2057400"/>
            <a:ext cx="228600" cy="0"/>
          </a:xfrm>
          <a:prstGeom prst="line">
            <a:avLst/>
          </a:prstGeom>
          <a:ln w="25400">
            <a:solidFill>
              <a:srgbClr val="0F76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217920" y="1737360"/>
            <a:ext cx="2651760" cy="64008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b="1" sz="1800">
                <a:solidFill>
                  <a:srgbClr val="FFFFFF"/>
                </a:solidFill>
              </a:rPr>
              <a:t>3  Smoke deploy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514600"/>
            <a:ext cx="2651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D2733"/>
                </a:solidFill>
                <a:latin typeface="Calibri"/>
              </a:rPr>
              <a:t>•  kind cluster in the runner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D2733"/>
                </a:solidFill>
                <a:latin typeface="Calibri"/>
              </a:rPr>
              <a:t>•  load the pushed images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D2733"/>
                </a:solidFill>
                <a:latin typeface="Calibri"/>
              </a:rPr>
              <a:t>•  helm upgrade --install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D2733"/>
                </a:solidFill>
                <a:latin typeface="Calibri"/>
              </a:rPr>
              <a:t>•  helm test + book an appointment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869680" y="2057400"/>
            <a:ext cx="228600" cy="0"/>
          </a:xfrm>
          <a:prstGeom prst="line">
            <a:avLst/>
          </a:prstGeom>
          <a:ln w="25400">
            <a:solidFill>
              <a:srgbClr val="0F76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098280" y="1737360"/>
            <a:ext cx="2651760" cy="640080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b="1" sz="1800">
                <a:solidFill>
                  <a:srgbClr val="FFFFFF"/>
                </a:solidFill>
              </a:rPr>
              <a:t>4  GitOps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2514600"/>
            <a:ext cx="2651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D2733"/>
                </a:solidFill>
                <a:latin typeface="Calibri"/>
              </a:rPr>
              <a:t>•  write SHA into values-prod.yaml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D2733"/>
                </a:solidFill>
                <a:latin typeface="Calibri"/>
              </a:rPr>
              <a:t>•  ArgoCD sees the commit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D2733"/>
                </a:solidFill>
                <a:latin typeface="Calibri"/>
              </a:rPr>
              <a:t>•  rolls EKS to the new image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D2733"/>
                </a:solidFill>
                <a:latin typeface="Calibri"/>
              </a:rPr>
              <a:t>•  (opt-in repo variable)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2120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3B3C"/>
                </a:solidFill>
                <a:latin typeface="Calibri"/>
              </a:rPr>
              <a:t>Tests fail -&gt; nothing is built. Scan fails -&gt; nothing is pushed. Every image is tagged with the commit SHA, so any pod traces back to the exact commit.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3B3C"/>
                </a:solidFill>
                <a:latin typeface="Calibri"/>
              </a:rPr>
              <a:t>DevSecOps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Calibri"/>
              </a:rPr>
              <a:t>Security checks that run on every commit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ClinicDesk · DevOps Capstone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852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1D2733"/>
                </a:solidFill>
                <a:latin typeface="Calibri"/>
              </a:rPr>
              <a:t>•  Trivy scans OS packages and Python/npm libs in both images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D2733"/>
                </a:solidFill>
                <a:latin typeface="Calibri"/>
              </a:rPr>
              <a:t>•  Pipeline fails on fixable HIGH or CRITICAL CVEs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D2733"/>
                </a:solidFill>
                <a:latin typeface="Calibri"/>
              </a:rPr>
              <a:t>•  Trivy secret scan over the repo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D2733"/>
                </a:solidFill>
                <a:latin typeface="Calibri"/>
              </a:rPr>
              <a:t>•  Containers: non-root, drop ALL caps, no privilege escalation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D2733"/>
                </a:solidFill>
                <a:latin typeface="Calibri"/>
              </a:rPr>
              <a:t>•  Backend root filesystem is read-only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1D2733"/>
                </a:solidFill>
                <a:latin typeface="Calibri"/>
              </a:rPr>
              <a:t>•  No credentials in git: AWS from CLI profile, DB + Grafana passwords from k8s secrets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1737360"/>
            <a:ext cx="4846320" cy="2194560"/>
          </a:xfrm>
          <a:prstGeom prst="roundRect">
            <a:avLst>
              <a:gd name="adj" fmla="val 12000"/>
            </a:avLst>
          </a:prstGeom>
          <a:solidFill>
            <a:srgbClr val="FF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600">
                <a:solidFill>
                  <a:srgbClr val="0B3B3C"/>
                </a:solidFill>
                <a:latin typeface="Calibri"/>
              </a:rPr>
              <a:t>Real finding from my pipeline</a:t>
            </a:r>
          </a:p>
          <a:p>
            <a:pPr algn="ctr"/>
            <a:r>
              <a:rPr sz="1300">
                <a:solidFill>
                  <a:srgbClr val="64748B"/>
                </a:solidFill>
                <a:latin typeface="Calibri"/>
              </a:rPr>
              <a:t>First run failed on 4 HIGH CVEs (urllib3, msgpack, setuptools). They were pip's own vendored libraries inside the image venv. Fix: uninstall pip after installing deps, it isn't needed at runtime.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0" y="4114800"/>
            <a:ext cx="4846320" cy="164592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600">
                <a:solidFill>
                  <a:srgbClr val="0B3B3C"/>
                </a:solidFill>
                <a:latin typeface="Calibri"/>
              </a:rPr>
              <a:t>Latest green run</a:t>
            </a:r>
          </a:p>
          <a:p>
            <a:pPr algn="ctr"/>
            <a:r>
              <a:rPr sz="1300">
                <a:solidFill>
                  <a:srgbClr val="64748B"/>
                </a:solidFill>
                <a:latin typeface="Calibri"/>
              </a:rPr>
              <a:t>backend: 0 fixable HIGH/CRITICAL, Python libs clean (166 Debian base findings with no fix yet). frontend: 1 MEDIUM in Alpine.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3B3C"/>
                </a:solidFill>
                <a:latin typeface="Calibri"/>
              </a:rPr>
              <a:t>Infrastructure as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Calibri"/>
              </a:rPr>
              <a:t>Terraform, AWS ap-south-1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ClinicDesk · DevOps Capstone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6766560" cy="4206240"/>
          </a:xfrm>
          <a:prstGeom prst="roundRect">
            <a:avLst>
              <a:gd name="adj" fmla="val 4000"/>
            </a:avLst>
          </a:prstGeom>
          <a:noFill/>
          <a:ln w="254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766E"/>
                </a:solidFill>
                <a:latin typeface="Calibri"/>
              </a:rPr>
              <a:t>VPC 10.30.0.0/16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194560"/>
            <a:ext cx="3017520" cy="82296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public subnet AZ-a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NAT gateway, load balancer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23360" y="2194560"/>
            <a:ext cx="3017520" cy="82296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public subnet AZ-b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load balancer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291840"/>
            <a:ext cx="3017520" cy="82296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private subnet AZ-a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worker node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3360" y="3291840"/>
            <a:ext cx="3017520" cy="82296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private subnet AZ-b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worker node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389120"/>
            <a:ext cx="6217920" cy="118872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EKS clinicdesk-eks (1.34)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managed node group 2-4 x t3.medium (AL2023) · CoreDNS · VPC CNI · kube-proxy · EBS CSI driver (IRSA)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164592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D2733"/>
                </a:solidFill>
                <a:latin typeface="Calibri"/>
              </a:rPr>
              <a:t>•  terraform-aws-modules for VPC + EKS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D2733"/>
                </a:solidFill>
                <a:latin typeface="Calibri"/>
              </a:rPr>
              <a:t>•  subnets tagged so load balancers land in the right place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D2733"/>
                </a:solidFill>
                <a:latin typeface="Calibri"/>
              </a:rPr>
              <a:t>•  terraform.tfvars.example, no keys in git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D2733"/>
                </a:solidFill>
                <a:latin typeface="Calibri"/>
              </a:rPr>
              <a:t>•  init -&gt; plan -&gt; apply -&gt; destroy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D2733"/>
                </a:solidFill>
                <a:latin typeface="Calibri"/>
              </a:rPr>
              <a:t>•  gp3 StorageClass applied after, EKS 1.30+ has no default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D2733"/>
                </a:solidFill>
                <a:latin typeface="Calibri"/>
              </a:rPr>
              <a:t>•  Cost: a few dollars a day, destroyed after the demo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3B3C"/>
                </a:solidFill>
                <a:latin typeface="Calibri"/>
              </a:rPr>
              <a:t>Kubernetes + Helm + ArgoCD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Calibri"/>
              </a:rPr>
              <a:t>One chart, three values files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ClinicDesk · DevOps Capstone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Deployments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backend (init waits for DB), frontend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645920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StatefulSet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postgres + PVC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97480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Services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ClusterIP for all three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697480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Ingress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/ -&gt; frontend, /api -&gt; backend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49039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HPA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backend 2..8 pods at 60% CPU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3749039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PDB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min 1 backend pod in drains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00600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ServiceMonitor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only if the CRD exists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4800600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E0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500">
                <a:solidFill>
                  <a:srgbClr val="0B3B3C"/>
                </a:solidFill>
                <a:latin typeface="Calibri"/>
              </a:rPr>
              <a:t>helm test</a:t>
            </a:r>
          </a:p>
          <a:p>
            <a:pPr algn="ctr"/>
            <a:r>
              <a:rPr sz="1200">
                <a:solidFill>
                  <a:srgbClr val="64748B"/>
                </a:solidFill>
                <a:latin typeface="Calibri"/>
              </a:rPr>
              <a:t>checks /ready + proxy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D2733"/>
                </a:solidFill>
                <a:latin typeface="Calibri"/>
              </a:rPr>
              <a:t>•  values-dev.yaml: minikube, local images, clinicdesk.local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D2733"/>
                </a:solidFill>
                <a:latin typeface="Calibri"/>
              </a:rPr>
              <a:t>•  values-prod.yaml: EKS, GHCR images by SHA, gp3, secret DB password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D2733"/>
                </a:solidFill>
                <a:latin typeface="Calibri"/>
              </a:rPr>
              <a:t>•  Probes: startup + liveness on /health, readiness on /ready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D2733"/>
                </a:solidFill>
                <a:latin typeface="Calibri"/>
              </a:rPr>
              <a:t>•  Pod Security restricted (warn/audit), ResourceQuota on the namespace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D2733"/>
                </a:solidFill>
                <a:latin typeface="Calibri"/>
              </a:rPr>
              <a:t>•  ArgoCD Application on helm/clinicdesk, auto sync + self heal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D2733"/>
                </a:solidFill>
                <a:latin typeface="Calibri"/>
              </a:rPr>
              <a:t>•  CI deploys the same chart into kind on every push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3B3C"/>
                </a:solidFill>
                <a:latin typeface="Calibri"/>
              </a:rPr>
              <a:t>Observability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64748B"/>
                </a:solidFill>
                <a:latin typeface="Calibri"/>
              </a:rPr>
              <a:t>kube-prometheus-stack + a dashboard that ships with the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ClinicDesk · DevOps Capstone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1D2733"/>
                </a:solidFill>
                <a:latin typeface="Calibri"/>
              </a:rPr>
              <a:t>•  prometheus-fastapi-instrumentator: request count, latency histogram, status codes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D2733"/>
                </a:solidFill>
                <a:latin typeface="Calibri"/>
              </a:rPr>
              <a:t>•  My own counters: bookings, blocked double-bookings, status changes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D2733"/>
                </a:solidFill>
                <a:latin typeface="Calibri"/>
              </a:rPr>
              <a:t>•  ServiceMonitor -&gt; Prometheus scrapes backend every 15s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D2733"/>
                </a:solidFill>
                <a:latin typeface="Calibri"/>
              </a:rPr>
              <a:t>•  Grafana sidecar loads the dashboard ConfigMap automatically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D2733"/>
                </a:solidFill>
                <a:latin typeface="Calibri"/>
              </a:rPr>
              <a:t>•  Load test script to drive the panels and the HPA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737360"/>
            <a:ext cx="1645920" cy="91440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300">
                <a:solidFill>
                  <a:srgbClr val="0B3B3C"/>
                </a:solidFill>
                <a:latin typeface="Calibri"/>
              </a:rPr>
              <a:t>Requests / sec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1737360"/>
            <a:ext cx="1645920" cy="91440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300">
                <a:solidFill>
                  <a:srgbClr val="0B3B3C"/>
                </a:solidFill>
                <a:latin typeface="Calibri"/>
              </a:rPr>
              <a:t>5xx error ratio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0" y="1737360"/>
            <a:ext cx="1645920" cy="91440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300">
                <a:solidFill>
                  <a:srgbClr val="0B3B3C"/>
                </a:solidFill>
                <a:latin typeface="Calibri"/>
              </a:rPr>
              <a:t>p95 latency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2788920"/>
            <a:ext cx="1645920" cy="91440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300">
                <a:solidFill>
                  <a:srgbClr val="0B3B3C"/>
                </a:solidFill>
                <a:latin typeface="Calibri"/>
              </a:rPr>
              <a:t>Bookings (1h)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2788920"/>
            <a:ext cx="1645920" cy="91440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300">
                <a:solidFill>
                  <a:srgbClr val="0B3B3C"/>
                </a:solidFill>
                <a:latin typeface="Calibri"/>
              </a:rPr>
              <a:t>Blocked double-bookings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0" y="2788920"/>
            <a:ext cx="1645920" cy="91440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300">
                <a:solidFill>
                  <a:srgbClr val="0B3B3C"/>
                </a:solidFill>
                <a:latin typeface="Calibri"/>
              </a:rPr>
              <a:t>Backend pods up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3840479"/>
            <a:ext cx="1645920" cy="91440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300">
                <a:solidFill>
                  <a:srgbClr val="0B3B3C"/>
                </a:solidFill>
                <a:latin typeface="Calibri"/>
              </a:rPr>
              <a:t>Rate per endpoint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3840479"/>
            <a:ext cx="1645920" cy="91440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300">
                <a:solidFill>
                  <a:srgbClr val="0B3B3C"/>
                </a:solidFill>
                <a:latin typeface="Calibri"/>
              </a:rPr>
              <a:t>p50 / p95 per endpoint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0" y="3840479"/>
            <a:ext cx="1645920" cy="91440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b="1" sz="1300">
                <a:solidFill>
                  <a:srgbClr val="0B3B3C"/>
                </a:solidFill>
                <a:latin typeface="Calibri"/>
              </a:rPr>
              <a:t>CPU + memory per pod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50292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TODO: swap in a real Grafana screenshot here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3B3C"/>
                </a:solidFill>
                <a:latin typeface="Calibri"/>
              </a:rPr>
              <a:t>Troubleshooting and key learnings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ClinicDesk · DevOps 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F766E"/>
                </a:solidFill>
                <a:latin typeface="Calibri"/>
              </a:rPr>
              <a:t>Things that actually broke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1D2733"/>
                </a:solidFill>
                <a:latin typeface="Calibri"/>
              </a:rPr>
              <a:t>•  Init container stuck: pg_isready said "no attempt"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–  uid 10001 has no passwd entry, needed -U &lt;user&gt;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D2733"/>
                </a:solidFill>
                <a:latin typeface="Calibri"/>
              </a:rPr>
              <a:t>•  Two backend pods migrating at once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–  fixed with a Postgres advisory lock in alembic/env.py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D2733"/>
                </a:solidFill>
                <a:latin typeface="Calibri"/>
              </a:rPr>
              <a:t>•  Trivy failing on pip's vendored libraries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–  pip removed from the runtime image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D2733"/>
                </a:solidFill>
                <a:latin typeface="Calibri"/>
              </a:rPr>
              <a:t>•  nginx as non-root can't bind port 80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–  nginx-unprivileged on 8080, Service maps 80 -&gt; 8080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280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F766E"/>
                </a:solidFill>
                <a:latin typeface="Calibri"/>
              </a:rPr>
              <a:t>Lab exercises in troubleshooting/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83080"/>
            <a:ext cx="5303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1D2733"/>
                </a:solidFill>
                <a:latin typeface="Calibri"/>
              </a:rPr>
              <a:t>•  Wrong image tag -&gt; ImagePullBackOff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D2733"/>
                </a:solidFill>
                <a:latin typeface="Calibri"/>
              </a:rPr>
              <a:t>•  Selector typo -&gt; Service with no endpoints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D2733"/>
                </a:solidFill>
                <a:latin typeface="Calibri"/>
              </a:rPr>
              <a:t>•  Bad DB host -&gt; CrashLoopBackOff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3566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F766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406908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1D2733"/>
                </a:solidFill>
                <a:latin typeface="Calibri"/>
              </a:rPr>
              <a:t>•  Readiness != liveness, and it matters for rollouts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D2733"/>
                </a:solidFill>
                <a:latin typeface="Calibri"/>
              </a:rPr>
              <a:t>•  Gates only help if they really stop the pipeline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D2733"/>
                </a:solidFill>
                <a:latin typeface="Calibri"/>
              </a:rPr>
              <a:t>•  Tag by SHA, never latest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D2733"/>
                </a:solidFill>
                <a:latin typeface="Calibri"/>
              </a:rPr>
              <a:t>•  Destroy the cloud stuff when you're done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B3B3C"/>
                </a:solidFill>
                <a:latin typeface="Calibri"/>
              </a:rPr>
              <a:t>What I'd do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355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4748B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ClinicDesk · DevOps 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1D2733"/>
                </a:solidFill>
                <a:latin typeface="Calibri"/>
              </a:rPr>
              <a:t>•  Staff login (OIDC) and an audit log, it's patient data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D2733"/>
                </a:solidFill>
                <a:latin typeface="Calibri"/>
              </a:rPr>
              <a:t>•  Move Postgres to RDS Multi-AZ with backups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D2733"/>
                </a:solidFill>
                <a:latin typeface="Calibri"/>
              </a:rPr>
              <a:t>•  TLS with cert-manager and a real domain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D2733"/>
                </a:solidFill>
                <a:latin typeface="Calibri"/>
              </a:rPr>
              <a:t>•  Swap ingress-nginx (retired upstream) for Gateway API / AWS Load Balancer Controller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D2733"/>
                </a:solidFill>
                <a:latin typeface="Calibri"/>
              </a:rPr>
              <a:t>•  Alerts in Alertmanager: error ratio, p95 latency, pods not ready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1D2733"/>
                </a:solidFill>
                <a:latin typeface="Calibri"/>
              </a:rPr>
              <a:t>•  Remote Terraform state in S3 with locking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3B3C"/>
                </a:solidFill>
                <a:latin typeface="Calibri"/>
              </a:rPr>
              <a:t>Thanks!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ClinicDesk - DevOps Capstone</dc:title>
  <dc:subject/>
  <dc:creator>RJSIN147</dc:creator>
  <cp:keywords/>
  <dc:description/>
  <cp:lastModifiedBy>RJSIN147</cp:lastModifiedBy>
  <cp:revision>1</cp:revision>
  <dcterms:created xsi:type="dcterms:W3CDTF">2013-01-27T09:14:16Z</dcterms:created>
  <dcterms:modified xsi:type="dcterms:W3CDTF">2013-01-27T09:15:58Z</dcterms:modified>
  <cp:category/>
</cp:coreProperties>
</file>